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47"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D896A-CD43-470F-A92C-8F5DFB9C0110}"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21F1AA-F21B-4398-9DA9-8A8C253A6090}" type="slidenum">
              <a:rPr lang="en-IN" smtClean="0"/>
              <a:t>‹#›</a:t>
            </a:fld>
            <a:endParaRPr lang="en-IN"/>
          </a:p>
        </p:txBody>
      </p:sp>
    </p:spTree>
    <p:extLst>
      <p:ext uri="{BB962C8B-B14F-4D97-AF65-F5344CB8AC3E}">
        <p14:creationId xmlns:p14="http://schemas.microsoft.com/office/powerpoint/2010/main" val="1443469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21F1AA-F21B-4398-9DA9-8A8C253A6090}" type="slidenum">
              <a:rPr lang="en-IN" smtClean="0"/>
              <a:t>1</a:t>
            </a:fld>
            <a:endParaRPr lang="en-IN"/>
          </a:p>
        </p:txBody>
      </p:sp>
    </p:spTree>
    <p:extLst>
      <p:ext uri="{BB962C8B-B14F-4D97-AF65-F5344CB8AC3E}">
        <p14:creationId xmlns:p14="http://schemas.microsoft.com/office/powerpoint/2010/main" val="4110701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21F1AA-F21B-4398-9DA9-8A8C253A6090}" type="slidenum">
              <a:rPr lang="en-IN" smtClean="0"/>
              <a:t>8</a:t>
            </a:fld>
            <a:endParaRPr lang="en-IN"/>
          </a:p>
        </p:txBody>
      </p:sp>
    </p:spTree>
    <p:extLst>
      <p:ext uri="{BB962C8B-B14F-4D97-AF65-F5344CB8AC3E}">
        <p14:creationId xmlns:p14="http://schemas.microsoft.com/office/powerpoint/2010/main" val="704317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ight Triangle 1"/>
          <p:cNvSpPr/>
          <p:nvPr/>
        </p:nvSpPr>
        <p:spPr>
          <a:xfrm rot="10800000">
            <a:off x="7772400" y="0"/>
            <a:ext cx="4419295" cy="6858000"/>
          </a:xfrm>
          <a:prstGeom prst="rtTriangl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589520" y="0"/>
            <a:ext cx="9144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0"/>
            <a:ext cx="6858000" cy="2743200"/>
          </a:xfrm>
          <a:prstGeom prst="rect">
            <a:avLst/>
          </a:prstGeom>
          <a:noFill/>
        </p:spPr>
        <p:txBody>
          <a:bodyPr wrap="square" lIns="0" tIns="0" rIns="0" bIns="0">
            <a:spAutoFit/>
          </a:bodyPr>
          <a:lstStyle/>
          <a:p>
            <a:pPr>
              <a:spcAft>
                <a:spcPts val="2000"/>
              </a:spcAft>
              <a:defRPr sz="4600" b="1">
                <a:solidFill>
                  <a:srgbClr val="F1F5F9"/>
                </a:solidFill>
                <a:latin typeface="Arial"/>
              </a:defRPr>
            </a:pPr>
            <a:r>
              <a:t>AI-Powered Resume</a:t>
            </a:r>
            <a:br/>
            <a:r>
              <a:t>Screening System</a:t>
            </a:r>
          </a:p>
          <a:p>
            <a:pPr>
              <a:defRPr sz="1800">
                <a:solidFill>
                  <a:srgbClr val="14B8A6"/>
                </a:solidFill>
                <a:latin typeface="Arial"/>
              </a:defRPr>
            </a:pPr>
            <a:r>
              <a:t>Automated Candidate Ranking &amp; Semantic Fit Analysis</a:t>
            </a:r>
          </a:p>
        </p:txBody>
      </p:sp>
      <p:sp>
        <p:nvSpPr>
          <p:cNvPr id="5" name="TextBox 4"/>
          <p:cNvSpPr txBox="1"/>
          <p:nvPr/>
        </p:nvSpPr>
        <p:spPr>
          <a:xfrm>
            <a:off x="731520" y="5029200"/>
            <a:ext cx="6400800" cy="389850"/>
          </a:xfrm>
          <a:prstGeom prst="rect">
            <a:avLst/>
          </a:prstGeom>
          <a:noFill/>
        </p:spPr>
        <p:txBody>
          <a:bodyPr wrap="square" lIns="0" tIns="0" rIns="0" bIns="0">
            <a:spAutoFit/>
          </a:bodyPr>
          <a:lstStyle/>
          <a:p>
            <a:pPr>
              <a:spcAft>
                <a:spcPts val="400"/>
              </a:spcAft>
              <a:defRPr sz="1300" b="1">
                <a:solidFill>
                  <a:srgbClr val="F1F5F9"/>
                </a:solidFill>
                <a:latin typeface="Arial"/>
              </a:defRPr>
            </a:pPr>
            <a:r>
              <a:rPr lang="en-US" sz="1100" b="1" dirty="0">
                <a:solidFill>
                  <a:srgbClr val="F1F5F9"/>
                </a:solidFill>
                <a:latin typeface="Arial"/>
              </a:rPr>
              <a:t>Achyut Shreyas</a:t>
            </a:r>
          </a:p>
          <a:p>
            <a:pPr>
              <a:spcAft>
                <a:spcPts val="400"/>
              </a:spcAft>
              <a:defRPr sz="1300" b="1">
                <a:solidFill>
                  <a:srgbClr val="F1F5F9"/>
                </a:solidFill>
                <a:latin typeface="Arial"/>
              </a:defRPr>
            </a:pPr>
            <a:r>
              <a:rPr lang="en-US" sz="1100" b="1" dirty="0">
                <a:solidFill>
                  <a:srgbClr val="F1F5F9"/>
                </a:solidFill>
                <a:latin typeface="Arial"/>
              </a:rPr>
              <a:t>Soumya Prasad</a:t>
            </a:r>
            <a:endParaRPr sz="1100" b="1" dirty="0">
              <a:solidFill>
                <a:srgbClr val="F1F5F9"/>
              </a:solidFill>
              <a:latin typeface="Arial"/>
            </a:endParaRP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94A3B8"/>
                </a:solidFill>
                <a:latin typeface="Arial"/>
              </a:defRPr>
            </a:pPr>
            <a:r>
              <a:rPr dirty="0"/>
              <a:t>AI Resume Screening System  |  Internship Project Presentation</a:t>
            </a:r>
          </a:p>
          <a:p>
            <a:pPr algn="r">
              <a:defRPr sz="900">
                <a:solidFill>
                  <a:srgbClr val="94A3B8"/>
                </a:solidFill>
                <a:latin typeface="Arial"/>
              </a:defRPr>
            </a:pPr>
            <a:r>
              <a:rPr dirty="0"/>
              <a:t>Slide 1 of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The Core Problem in Candidate Screening</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029200" cy="4389120"/>
          </a:xfrm>
          <a:prstGeom prst="rect">
            <a:avLst/>
          </a:prstGeom>
          <a:noFill/>
        </p:spPr>
        <p:txBody>
          <a:bodyPr wrap="square" lIns="0" tIns="0" rIns="0" bIns="0">
            <a:spAutoFit/>
          </a:bodyPr>
          <a:lstStyle/>
          <a:p>
            <a:pPr>
              <a:spcAft>
                <a:spcPts val="1200"/>
              </a:spcAft>
            </a:pPr>
            <a:r>
              <a:rPr sz="1500" b="1">
                <a:solidFill>
                  <a:srgbClr val="2563EB"/>
                </a:solidFill>
                <a:latin typeface="Arial"/>
              </a:rPr>
              <a:t>•  High Resume Volume: </a:t>
            </a:r>
            <a:r>
              <a:rPr sz="1500" b="0">
                <a:solidFill>
                  <a:srgbClr val="0F172A"/>
                </a:solidFill>
                <a:latin typeface="Arial"/>
              </a:rPr>
              <a:t>HR managers receive hundreds of resumes per job opening. Sorting them manually takes days, causing massive hiring bottlenecks.</a:t>
            </a:r>
          </a:p>
          <a:p>
            <a:pPr>
              <a:spcAft>
                <a:spcPts val="1200"/>
              </a:spcAft>
            </a:pPr>
            <a:r>
              <a:rPr sz="1500" b="1">
                <a:solidFill>
                  <a:srgbClr val="2563EB"/>
                </a:solidFill>
                <a:latin typeface="Arial"/>
              </a:rPr>
              <a:t>•  ATS Keyword Limitations: </a:t>
            </a:r>
            <a:r>
              <a:rPr sz="1500" b="0">
                <a:solidFill>
                  <a:srgbClr val="0F172A"/>
                </a:solidFill>
                <a:latin typeface="Arial"/>
              </a:rPr>
              <a:t>Traditional Applicant Tracking Systems (ATS) rely on exact keyword matches. They fail to identify synonyms (e.g., rejecting an expert in 'ETL pipelines' because they didn't write 'data engineering' in their resume).</a:t>
            </a:r>
          </a:p>
          <a:p>
            <a:pPr>
              <a:spcAft>
                <a:spcPts val="1200"/>
              </a:spcAft>
            </a:pPr>
            <a:r>
              <a:rPr sz="1500" b="1">
                <a:solidFill>
                  <a:srgbClr val="2563EB"/>
                </a:solidFill>
                <a:latin typeface="Arial"/>
              </a:rPr>
              <a:t>•  Inconsistency &amp; Fatigue: </a:t>
            </a:r>
            <a:r>
              <a:rPr sz="1500" b="0">
                <a:solidFill>
                  <a:srgbClr val="0F172A"/>
                </a:solidFill>
                <a:latin typeface="Arial"/>
              </a:rPr>
              <a:t>Human screening is subjective, prone to unconscious bias, and highly inconsistent when reviewing dozens of documents in a single sitting.</a:t>
            </a:r>
          </a:p>
        </p:txBody>
      </p:sp>
      <p:sp>
        <p:nvSpPr>
          <p:cNvPr id="5" name="Rounded Rectangle 4"/>
          <p:cNvSpPr/>
          <p:nvPr/>
        </p:nvSpPr>
        <p:spPr>
          <a:xfrm>
            <a:off x="6217920" y="1645920"/>
            <a:ext cx="521208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500"/>
              </a:spcAft>
              <a:defRPr sz="1400" b="1">
                <a:solidFill>
                  <a:srgbClr val="14B8A6"/>
                </a:solidFill>
                <a:latin typeface="Arial"/>
              </a:defRPr>
            </a:pPr>
            <a:r>
              <a:t>THE RECRUITER'S DILEMMA</a:t>
            </a:r>
          </a:p>
          <a:p>
            <a:pPr>
              <a:spcAft>
                <a:spcPts val="1200"/>
              </a:spcAft>
            </a:pPr>
            <a:r>
              <a:rPr sz="1200" b="1">
                <a:solidFill>
                  <a:srgbClr val="F1F5F9"/>
                </a:solidFill>
              </a:rPr>
              <a:t>Time Spent per Resume: </a:t>
            </a:r>
            <a:r>
              <a:rPr sz="1200">
                <a:solidFill>
                  <a:srgbClr val="F1F5F9"/>
                </a:solidFill>
              </a:rPr>
              <a:t>Average of 6 to 8 seconds by human recruiters, leading to critical screening errors.</a:t>
            </a:r>
          </a:p>
          <a:p>
            <a:pPr>
              <a:spcAft>
                <a:spcPts val="1200"/>
              </a:spcAft>
            </a:pPr>
            <a:r>
              <a:rPr sz="1200" b="1">
                <a:solidFill>
                  <a:srgbClr val="F1F5F9"/>
                </a:solidFill>
              </a:rPr>
              <a:t>Missed Talent: </a:t>
            </a:r>
            <a:r>
              <a:rPr sz="1200">
                <a:solidFill>
                  <a:srgbClr val="F1F5F9"/>
                </a:solidFill>
              </a:rPr>
              <a:t>Up to 75% of qualified candidates are filtered out by rigid, keyword-based legacy ATS systems because of formatting or exact term mismatches.</a:t>
            </a:r>
          </a:p>
          <a:p>
            <a:pPr>
              <a:spcAft>
                <a:spcPts val="1200"/>
              </a:spcAft>
            </a:pPr>
            <a:r>
              <a:rPr sz="1200" b="1">
                <a:solidFill>
                  <a:srgbClr val="F1F5F9"/>
                </a:solidFill>
              </a:rPr>
              <a:t>The Goal: </a:t>
            </a:r>
            <a:r>
              <a:rPr sz="1200">
                <a:solidFill>
                  <a:srgbClr val="F1F5F9"/>
                </a:solidFill>
              </a:rPr>
              <a:t>Transition from rigid string matching to intelligent semantic matching that understands candidate capability, context, and quality.</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2 of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Our Solution: AI Resume Screening System</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029200" cy="4389120"/>
          </a:xfrm>
          <a:prstGeom prst="rect">
            <a:avLst/>
          </a:prstGeom>
          <a:noFill/>
        </p:spPr>
        <p:txBody>
          <a:bodyPr wrap="square" lIns="0" tIns="0" rIns="0" bIns="0">
            <a:spAutoFit/>
          </a:bodyPr>
          <a:lstStyle/>
          <a:p>
            <a:pPr>
              <a:spcAft>
                <a:spcPts val="1200"/>
              </a:spcAft>
            </a:pPr>
            <a:r>
              <a:rPr sz="1500" b="1">
                <a:solidFill>
                  <a:srgbClr val="2563EB"/>
                </a:solidFill>
                <a:latin typeface="Arial"/>
              </a:rPr>
              <a:t>•  Semantic Matching: </a:t>
            </a:r>
            <a:r>
              <a:rPr sz="1500" b="0">
                <a:solidFill>
                  <a:srgbClr val="0F172A"/>
                </a:solidFill>
                <a:latin typeface="Arial"/>
              </a:rPr>
              <a:t>Uses pre-trained Transformer models (Sentence-BERT) to understand the semantic intent of both the JD and the resumes, matching synonyms and related domains.</a:t>
            </a:r>
          </a:p>
          <a:p>
            <a:pPr>
              <a:spcAft>
                <a:spcPts val="1200"/>
              </a:spcAft>
            </a:pPr>
            <a:r>
              <a:rPr sz="1500" b="1">
                <a:solidFill>
                  <a:srgbClr val="2563EB"/>
                </a:solidFill>
                <a:latin typeface="Arial"/>
              </a:rPr>
              <a:t>•  Explainable AI: </a:t>
            </a:r>
            <a:r>
              <a:rPr sz="1500" b="0">
                <a:solidFill>
                  <a:srgbClr val="0F172A"/>
                </a:solidFill>
                <a:latin typeface="Arial"/>
              </a:rPr>
              <a:t>Instead of a simple black-box score, the system generates a tailored textual summary explaining the recommendation (e.g. matched/missing skills, project presence).</a:t>
            </a:r>
          </a:p>
          <a:p>
            <a:pPr>
              <a:spcAft>
                <a:spcPts val="1200"/>
              </a:spcAft>
            </a:pPr>
            <a:r>
              <a:rPr sz="1500" b="1">
                <a:solidFill>
                  <a:srgbClr val="2563EB"/>
                </a:solidFill>
                <a:latin typeface="Arial"/>
              </a:rPr>
              <a:t>•  Interactive HR Interface: </a:t>
            </a:r>
            <a:r>
              <a:rPr sz="1500" b="0">
                <a:solidFill>
                  <a:srgbClr val="0F172A"/>
                </a:solidFill>
                <a:latin typeface="Arial"/>
              </a:rPr>
              <a:t>Provides recruiters with a full dashboard, from secure sign-up/login to screening forms and interactive charts displaying candidate statistics.</a:t>
            </a:r>
          </a:p>
        </p:txBody>
      </p:sp>
      <p:sp>
        <p:nvSpPr>
          <p:cNvPr id="5" name="Rounded Rectangle 4"/>
          <p:cNvSpPr/>
          <p:nvPr/>
        </p:nvSpPr>
        <p:spPr>
          <a:xfrm>
            <a:off x="6217920" y="1645920"/>
            <a:ext cx="52120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200"/>
              </a:spcAft>
              <a:defRPr sz="1400" b="1">
                <a:solidFill>
                  <a:srgbClr val="2563EB"/>
                </a:solidFill>
                <a:latin typeface="Arial"/>
              </a:defRPr>
            </a:pPr>
            <a:r>
              <a:t>🧠 Deep Semantic Core</a:t>
            </a:r>
          </a:p>
          <a:p>
            <a:pPr>
              <a:defRPr sz="1100">
                <a:solidFill>
                  <a:srgbClr val="64748B"/>
                </a:solidFill>
                <a:latin typeface="Arial"/>
              </a:defRPr>
            </a:pPr>
            <a:r>
              <a:t>Transends keyword limits using advanced SBERT sentence embeddings.</a:t>
            </a:r>
          </a:p>
        </p:txBody>
      </p:sp>
      <p:sp>
        <p:nvSpPr>
          <p:cNvPr id="6" name="Rounded Rectangle 5"/>
          <p:cNvSpPr/>
          <p:nvPr/>
        </p:nvSpPr>
        <p:spPr>
          <a:xfrm>
            <a:off x="6217920" y="3017520"/>
            <a:ext cx="52120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200"/>
              </a:spcAft>
              <a:defRPr sz="1400" b="1">
                <a:solidFill>
                  <a:srgbClr val="14B8A6"/>
                </a:solidFill>
                <a:latin typeface="Arial"/>
              </a:defRPr>
            </a:pPr>
            <a:r>
              <a:t>💡 Explainable AI Match summaries</a:t>
            </a:r>
          </a:p>
          <a:p>
            <a:pPr>
              <a:defRPr sz="1100">
                <a:solidFill>
                  <a:srgbClr val="64748B"/>
                </a:solidFill>
                <a:latin typeface="Arial"/>
              </a:defRPr>
            </a:pPr>
            <a:r>
              <a:t>Auto-generates transparent rationale detailing candidate strengths/weaknesses.</a:t>
            </a:r>
          </a:p>
        </p:txBody>
      </p:sp>
      <p:sp>
        <p:nvSpPr>
          <p:cNvPr id="7" name="Rounded Rectangle 6"/>
          <p:cNvSpPr/>
          <p:nvPr/>
        </p:nvSpPr>
        <p:spPr>
          <a:xfrm>
            <a:off x="6217920" y="4389120"/>
            <a:ext cx="52120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200"/>
              </a:spcAft>
              <a:defRPr sz="1400" b="1">
                <a:solidFill>
                  <a:srgbClr val="F59E0B"/>
                </a:solidFill>
                <a:latin typeface="Arial"/>
              </a:defRPr>
            </a:pPr>
            <a:r>
              <a:t>📊 Interactive Analytics Dashboard</a:t>
            </a:r>
          </a:p>
          <a:p>
            <a:pPr>
              <a:defRPr sz="1100">
                <a:solidFill>
                  <a:srgbClr val="64748B"/>
                </a:solidFill>
                <a:latin typeface="Arial"/>
              </a:defRPr>
            </a:pPr>
            <a:r>
              <a:t>Visualizes candidate pools, score distributions, and top skills automatically.</a:t>
            </a:r>
          </a:p>
        </p:txBody>
      </p:sp>
      <p:sp>
        <p:nvSpPr>
          <p:cNvPr id="8" name="TextBox 7"/>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3 of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System Architecture &amp; Tech Stack</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274320" rIns="365760" rtlCol="0" anchor="ctr"/>
          <a:lstStyle/>
          <a:p>
            <a:pPr algn="ctr">
              <a:spcAft>
                <a:spcPts val="1500"/>
              </a:spcAft>
              <a:defRPr sz="1500" b="1">
                <a:solidFill>
                  <a:srgbClr val="2563EB"/>
                </a:solidFill>
                <a:latin typeface="Arial"/>
              </a:defRPr>
            </a:pPr>
            <a:r>
              <a:t>FRONTEND ARCHITECTURE</a:t>
            </a:r>
          </a:p>
          <a:p>
            <a:pPr>
              <a:spcAft>
                <a:spcPts val="800"/>
              </a:spcAft>
            </a:pPr>
            <a:r>
              <a:rPr sz="1300" b="1">
                <a:solidFill>
                  <a:srgbClr val="2563EB"/>
                </a:solidFill>
                <a:latin typeface="Arial"/>
              </a:rPr>
              <a:t>•  React 18: </a:t>
            </a:r>
            <a:r>
              <a:rPr sz="1300" b="0">
                <a:solidFill>
                  <a:srgbClr val="0F172A"/>
                </a:solidFill>
                <a:latin typeface="Arial"/>
              </a:rPr>
              <a:t>Component-driven structure for clean, modular, and high-performance UI rendering.</a:t>
            </a:r>
          </a:p>
          <a:p>
            <a:pPr>
              <a:spcAft>
                <a:spcPts val="800"/>
              </a:spcAft>
            </a:pPr>
            <a:r>
              <a:rPr sz="1300" b="1">
                <a:solidFill>
                  <a:srgbClr val="2563EB"/>
                </a:solidFill>
                <a:latin typeface="Arial"/>
              </a:rPr>
              <a:t>•  Tailwind CSS: </a:t>
            </a:r>
            <a:r>
              <a:rPr sz="1300" b="0">
                <a:solidFill>
                  <a:srgbClr val="0F172A"/>
                </a:solidFill>
                <a:latin typeface="Arial"/>
              </a:rPr>
              <a:t>Responsive layouts, sleek slate theme styling, and clean spacing systems.</a:t>
            </a:r>
          </a:p>
          <a:p>
            <a:pPr>
              <a:spcAft>
                <a:spcPts val="800"/>
              </a:spcAft>
            </a:pPr>
            <a:r>
              <a:rPr sz="1300" b="1">
                <a:solidFill>
                  <a:srgbClr val="2563EB"/>
                </a:solidFill>
                <a:latin typeface="Arial"/>
              </a:rPr>
              <a:t>•  Recharts Library: </a:t>
            </a:r>
            <a:r>
              <a:rPr sz="1300" b="0">
                <a:solidFill>
                  <a:srgbClr val="0F172A"/>
                </a:solidFill>
                <a:latin typeface="Arial"/>
              </a:rPr>
              <a:t>Visual SVG charts mapping candidate status distributions and scores in real-time.</a:t>
            </a:r>
          </a:p>
          <a:p>
            <a:pPr>
              <a:spcAft>
                <a:spcPts val="800"/>
              </a:spcAft>
            </a:pPr>
            <a:r>
              <a:rPr sz="1300" b="1">
                <a:solidFill>
                  <a:srgbClr val="2563EB"/>
                </a:solidFill>
                <a:latin typeface="Arial"/>
              </a:rPr>
              <a:t>•  Framer Motion: </a:t>
            </a:r>
            <a:r>
              <a:rPr sz="1300" b="0">
                <a:solidFill>
                  <a:srgbClr val="0F172A"/>
                </a:solidFill>
                <a:latin typeface="Arial"/>
              </a:rPr>
              <a:t>Micro-animations, smooth transition effects, and dashboard fade-ins.</a:t>
            </a:r>
          </a:p>
          <a:p>
            <a:pPr>
              <a:spcAft>
                <a:spcPts val="800"/>
              </a:spcAft>
            </a:pPr>
            <a:r>
              <a:rPr sz="1300" b="1">
                <a:solidFill>
                  <a:srgbClr val="2563EB"/>
                </a:solidFill>
                <a:latin typeface="Arial"/>
              </a:rPr>
              <a:t>•  Axios Services: </a:t>
            </a:r>
            <a:r>
              <a:rPr sz="1300" b="0">
                <a:solidFill>
                  <a:srgbClr val="0F172A"/>
                </a:solidFill>
                <a:latin typeface="Arial"/>
              </a:rPr>
              <a:t>Centralized API communication layer with JWT authentication interceptors.</a:t>
            </a:r>
          </a:p>
        </p:txBody>
      </p:sp>
      <p:sp>
        <p:nvSpPr>
          <p:cNvPr id="5" name="Rounded Rectangle 4"/>
          <p:cNvSpPr/>
          <p:nvPr/>
        </p:nvSpPr>
        <p:spPr>
          <a:xfrm>
            <a:off x="62179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274320" rIns="365760" rtlCol="0" anchor="ctr"/>
          <a:lstStyle/>
          <a:p>
            <a:pPr algn="ctr">
              <a:spcAft>
                <a:spcPts val="1500"/>
              </a:spcAft>
              <a:defRPr sz="1500" b="1">
                <a:solidFill>
                  <a:srgbClr val="14B8A6"/>
                </a:solidFill>
                <a:latin typeface="Arial"/>
              </a:defRPr>
            </a:pPr>
            <a:r>
              <a:t>BACKEND ARCHITECTURE</a:t>
            </a:r>
          </a:p>
          <a:p>
            <a:pPr>
              <a:spcAft>
                <a:spcPts val="800"/>
              </a:spcAft>
            </a:pPr>
            <a:r>
              <a:rPr sz="1300" b="1">
                <a:solidFill>
                  <a:srgbClr val="2563EB"/>
                </a:solidFill>
                <a:latin typeface="Arial"/>
              </a:rPr>
              <a:t>•  FastAPI: </a:t>
            </a:r>
            <a:r>
              <a:rPr sz="1300" b="0">
                <a:solidFill>
                  <a:srgbClr val="0F172A"/>
                </a:solidFill>
                <a:latin typeface="Arial"/>
              </a:rPr>
              <a:t>Modern, high-performance async framework for routing and auto-generated OpenAPI docs.</a:t>
            </a:r>
          </a:p>
          <a:p>
            <a:pPr>
              <a:spcAft>
                <a:spcPts val="800"/>
              </a:spcAft>
            </a:pPr>
            <a:r>
              <a:rPr sz="1300" b="1">
                <a:solidFill>
                  <a:srgbClr val="2563EB"/>
                </a:solidFill>
                <a:latin typeface="Arial"/>
              </a:rPr>
              <a:t>•  SentenceTransformers: </a:t>
            </a:r>
            <a:r>
              <a:rPr sz="1300" b="0">
                <a:solidFill>
                  <a:srgbClr val="0F172A"/>
                </a:solidFill>
                <a:latin typeface="Arial"/>
              </a:rPr>
              <a:t>Deep learning inference using SBERT (MiniLM) and Cross-Encoders for re-ranking.</a:t>
            </a:r>
          </a:p>
          <a:p>
            <a:pPr>
              <a:spcAft>
                <a:spcPts val="800"/>
              </a:spcAft>
            </a:pPr>
            <a:r>
              <a:rPr sz="1300" b="1">
                <a:solidFill>
                  <a:srgbClr val="2563EB"/>
                </a:solidFill>
                <a:latin typeface="Arial"/>
              </a:rPr>
              <a:t>•  spaCy NLP Engine: </a:t>
            </a:r>
            <a:r>
              <a:rPr sz="1300" b="0">
                <a:solidFill>
                  <a:srgbClr val="0F172A"/>
                </a:solidFill>
                <a:latin typeface="Arial"/>
              </a:rPr>
              <a:t>Tokenization, name/entity extraction, and rule-based text cleaning filters.</a:t>
            </a:r>
          </a:p>
          <a:p>
            <a:pPr>
              <a:spcAft>
                <a:spcPts val="800"/>
              </a:spcAft>
            </a:pPr>
            <a:r>
              <a:rPr sz="1300" b="1">
                <a:solidFill>
                  <a:srgbClr val="2563EB"/>
                </a:solidFill>
                <a:latin typeface="Arial"/>
              </a:rPr>
              <a:t>•  pdfplumber + Docx: </a:t>
            </a:r>
            <a:r>
              <a:rPr sz="1300" b="0">
                <a:solidFill>
                  <a:srgbClr val="0F172A"/>
                </a:solidFill>
                <a:latin typeface="Arial"/>
              </a:rPr>
              <a:t>Engineered text extractions from PDF and Word files, keeping layouts intact.</a:t>
            </a:r>
          </a:p>
          <a:p>
            <a:pPr>
              <a:spcAft>
                <a:spcPts val="800"/>
              </a:spcAft>
            </a:pPr>
            <a:r>
              <a:rPr sz="1300" b="1">
                <a:solidFill>
                  <a:srgbClr val="2563EB"/>
                </a:solidFill>
                <a:latin typeface="Arial"/>
              </a:rPr>
              <a:t>•  Bcrypt + JWT JWT: </a:t>
            </a:r>
            <a:r>
              <a:rPr sz="1300" b="0">
                <a:solidFill>
                  <a:srgbClr val="0F172A"/>
                </a:solidFill>
                <a:latin typeface="Arial"/>
              </a:rPr>
              <a:t>Auth backend hashing passwords and issuing secure tokens expiring in 8 hours.</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4 of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End-to-End AI Matching Pipeline</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029200" cy="4389120"/>
          </a:xfrm>
          <a:prstGeom prst="rect">
            <a:avLst/>
          </a:prstGeom>
          <a:noFill/>
        </p:spPr>
        <p:txBody>
          <a:bodyPr wrap="square" lIns="0" tIns="0" rIns="0" bIns="0">
            <a:spAutoFit/>
          </a:bodyPr>
          <a:lstStyle/>
          <a:p>
            <a:pPr>
              <a:spcAft>
                <a:spcPts val="1200"/>
              </a:spcAft>
            </a:pPr>
            <a:r>
              <a:rPr sz="1500" b="1">
                <a:solidFill>
                  <a:srgbClr val="2563EB"/>
                </a:solidFill>
                <a:latin typeface="Arial"/>
              </a:rPr>
              <a:t>•  Layout Preserving Parsers: </a:t>
            </a:r>
            <a:r>
              <a:rPr sz="1500" b="0">
                <a:solidFill>
                  <a:srgbClr val="0F172A"/>
                </a:solidFill>
                <a:latin typeface="Arial"/>
              </a:rPr>
              <a:t>Raw documents (PDF, DOCX, TXT) are read. Cleaners fix merged words and strip garbage characters.</a:t>
            </a:r>
          </a:p>
          <a:p>
            <a:pPr>
              <a:spcAft>
                <a:spcPts val="1200"/>
              </a:spcAft>
            </a:pPr>
            <a:r>
              <a:rPr sz="1500" b="1">
                <a:solidFill>
                  <a:srgbClr val="2563EB"/>
                </a:solidFill>
                <a:latin typeface="Arial"/>
              </a:rPr>
              <a:t>•  spaCy NER &amp; Sections: </a:t>
            </a:r>
            <a:r>
              <a:rPr sz="1500" b="0">
                <a:solidFill>
                  <a:srgbClr val="0F172A"/>
                </a:solidFill>
                <a:latin typeface="Arial"/>
              </a:rPr>
              <a:t>Extracts details like Name, Email, and Phone, while parsing sections (Experience, Projects, Education) separately.</a:t>
            </a:r>
          </a:p>
          <a:p>
            <a:pPr>
              <a:spcAft>
                <a:spcPts val="1200"/>
              </a:spcAft>
            </a:pPr>
            <a:r>
              <a:rPr sz="1500" b="1">
                <a:solidFill>
                  <a:srgbClr val="2563EB"/>
                </a:solidFill>
                <a:latin typeface="Arial"/>
              </a:rPr>
              <a:t>•  Dual Encoder Matching: </a:t>
            </a:r>
            <a:r>
              <a:rPr sz="1500" b="0">
                <a:solidFill>
                  <a:srgbClr val="0F172A"/>
                </a:solidFill>
                <a:latin typeface="Arial"/>
              </a:rPr>
              <a:t>SBERT handles fast cosine similarity search. Then, the Cross-Encoder re-evaluates top-10 candidates with multi-attention.</a:t>
            </a:r>
          </a:p>
          <a:p>
            <a:pPr>
              <a:spcAft>
                <a:spcPts val="1200"/>
              </a:spcAft>
            </a:pPr>
            <a:r>
              <a:rPr sz="1500" b="1">
                <a:solidFill>
                  <a:srgbClr val="2563EB"/>
                </a:solidFill>
                <a:latin typeface="Arial"/>
              </a:rPr>
              <a:t>•  AI Explanation Engine: </a:t>
            </a:r>
            <a:r>
              <a:rPr sz="1500" b="0">
                <a:solidFill>
                  <a:srgbClr val="0F172A"/>
                </a:solidFill>
                <a:latin typeface="Arial"/>
              </a:rPr>
              <a:t>Constructs customized candidate fit text based on scoring vectors, detailing exactly why they matched.</a:t>
            </a:r>
          </a:p>
        </p:txBody>
      </p:sp>
      <p:sp>
        <p:nvSpPr>
          <p:cNvPr id="5" name="Rounded Rectangle 4"/>
          <p:cNvSpPr/>
          <p:nvPr/>
        </p:nvSpPr>
        <p:spPr>
          <a:xfrm>
            <a:off x="6217920" y="1645920"/>
            <a:ext cx="5212080" cy="43891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365760" tIns="274320" rtlCol="0" anchor="ctr"/>
          <a:lstStyle/>
          <a:p>
            <a:pPr algn="ctr">
              <a:spcAft>
                <a:spcPts val="1200"/>
              </a:spcAft>
              <a:defRPr sz="1400" b="1">
                <a:solidFill>
                  <a:srgbClr val="14B8A6"/>
                </a:solidFill>
                <a:latin typeface="Arial"/>
              </a:defRPr>
            </a:pPr>
            <a:r>
              <a:t>PIPELINE EXECUTION FLOW</a:t>
            </a:r>
          </a:p>
          <a:p>
            <a:pPr>
              <a:spcAft>
                <a:spcPts val="400"/>
              </a:spcAft>
              <a:defRPr sz="1200" b="1">
                <a:solidFill>
                  <a:srgbClr val="F1F5F9"/>
                </a:solidFill>
                <a:latin typeface="Arial"/>
              </a:defRPr>
            </a:pPr>
            <a:r>
              <a:t>1. Document Upload (JD + Resumes)</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2. Text Extraction &amp; Cleanup</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3. Section Parsing &amp; Skill Matching (spaCy)</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4. SBERT Vector Embeddings Mapping</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5. 7-Factor Weighted Scoring Logic</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6. Cross-Encoder Re-Ranking (ms-marco)</a:t>
            </a:r>
          </a:p>
          <a:p>
            <a:pPr>
              <a:spcAft>
                <a:spcPts val="400"/>
              </a:spcAft>
              <a:defRPr sz="1000" b="1">
                <a:solidFill>
                  <a:srgbClr val="14B8A6"/>
                </a:solidFill>
                <a:latin typeface="Arial"/>
              </a:defRPr>
            </a:pPr>
            <a:r>
              <a:t>       ↓</a:t>
            </a:r>
          </a:p>
          <a:p>
            <a:pPr>
              <a:spcAft>
                <a:spcPts val="400"/>
              </a:spcAft>
              <a:defRPr sz="1200" b="1">
                <a:solidFill>
                  <a:srgbClr val="F1F5F9"/>
                </a:solidFill>
                <a:latin typeface="Arial"/>
              </a:defRPr>
            </a:pPr>
            <a:r>
              <a:t>7. AI Explanation Summary &amp; Final Ranking Output</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5 of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7-Factor Weighted Scoring Mechanism</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6796735">
                  <a:extLst>
                    <a:ext uri="{9D8B030D-6E8A-4147-A177-3AD203B41FA5}">
                      <a16:colId xmlns:a16="http://schemas.microsoft.com/office/drawing/2014/main" val="20002"/>
                    </a:ext>
                  </a:extLst>
                </a:gridCol>
              </a:tblGrid>
              <a:tr h="514350">
                <a:tc>
                  <a:txBody>
                    <a:bodyPr/>
                    <a:lstStyle/>
                    <a:p>
                      <a:pPr algn="l">
                        <a:defRPr sz="1300" b="1">
                          <a:solidFill>
                            <a:srgbClr val="F1F5F9"/>
                          </a:solidFill>
                          <a:latin typeface="Arial"/>
                        </a:defRPr>
                      </a:pPr>
                      <a:r>
                        <a:t>Evaluation Factor</a:t>
                      </a:r>
                    </a:p>
                  </a:txBody>
                  <a:tcPr anchor="ctr">
                    <a:solidFill>
                      <a:srgbClr val="0F172A"/>
                    </a:solidFill>
                  </a:tcPr>
                </a:tc>
                <a:tc>
                  <a:txBody>
                    <a:bodyPr/>
                    <a:lstStyle/>
                    <a:p>
                      <a:pPr algn="l">
                        <a:defRPr sz="1300" b="1">
                          <a:solidFill>
                            <a:srgbClr val="F1F5F9"/>
                          </a:solidFill>
                          <a:latin typeface="Arial"/>
                        </a:defRPr>
                      </a:pPr>
                      <a:r>
                        <a:t>Weight</a:t>
                      </a:r>
                    </a:p>
                  </a:txBody>
                  <a:tcPr anchor="ctr">
                    <a:solidFill>
                      <a:srgbClr val="0F172A"/>
                    </a:solidFill>
                  </a:tcPr>
                </a:tc>
                <a:tc>
                  <a:txBody>
                    <a:bodyPr/>
                    <a:lstStyle/>
                    <a:p>
                      <a:pPr algn="l">
                        <a:defRPr sz="1300" b="1">
                          <a:solidFill>
                            <a:srgbClr val="F1F5F9"/>
                          </a:solidFill>
                          <a:latin typeface="Arial"/>
                        </a:defRPr>
                      </a:pPr>
                      <a:r>
                        <a:t>Computational Description</a:t>
                      </a:r>
                    </a:p>
                  </a:txBody>
                  <a:tcPr anchor="ctr">
                    <a:solidFill>
                      <a:srgbClr val="0F172A"/>
                    </a:solidFill>
                  </a:tcPr>
                </a:tc>
                <a:extLst>
                  <a:ext uri="{0D108BD9-81ED-4DB2-BD59-A6C34878D82A}">
                    <a16:rowId xmlns:a16="http://schemas.microsoft.com/office/drawing/2014/main" val="10000"/>
                  </a:ext>
                </a:extLst>
              </a:tr>
              <a:tr h="514350">
                <a:tc>
                  <a:txBody>
                    <a:bodyPr/>
                    <a:lstStyle/>
                    <a:p>
                      <a:pPr algn="l">
                        <a:defRPr sz="1100" b="1">
                          <a:solidFill>
                            <a:srgbClr val="2563EB"/>
                          </a:solidFill>
                          <a:latin typeface="Arial"/>
                        </a:defRPr>
                      </a:pPr>
                      <a:r>
                        <a:t>Semantic Similarity</a:t>
                      </a:r>
                    </a:p>
                  </a:txBody>
                  <a:tcPr anchor="ctr">
                    <a:solidFill>
                      <a:srgbClr val="FFFFFF"/>
                    </a:solidFill>
                  </a:tcPr>
                </a:tc>
                <a:tc>
                  <a:txBody>
                    <a:bodyPr/>
                    <a:lstStyle/>
                    <a:p>
                      <a:pPr algn="ctr">
                        <a:defRPr sz="1100" b="1">
                          <a:solidFill>
                            <a:srgbClr val="14B8A6"/>
                          </a:solidFill>
                          <a:latin typeface="Arial"/>
                        </a:defRPr>
                      </a:pPr>
                      <a:r>
                        <a:t>40%</a:t>
                      </a:r>
                    </a:p>
                  </a:txBody>
                  <a:tcPr anchor="ctr">
                    <a:solidFill>
                      <a:srgbClr val="FFFFFF"/>
                    </a:solidFill>
                  </a:tcPr>
                </a:tc>
                <a:tc>
                  <a:txBody>
                    <a:bodyPr/>
                    <a:lstStyle/>
                    <a:p>
                      <a:pPr algn="l">
                        <a:defRPr sz="1100">
                          <a:solidFill>
                            <a:srgbClr val="0F172A"/>
                          </a:solidFill>
                          <a:latin typeface="Arial"/>
                        </a:defRPr>
                      </a:pPr>
                      <a:r>
                        <a:t>SBERT embeddings utility computing cosine similarity between JD &amp; resume text.</a:t>
                      </a:r>
                    </a:p>
                  </a:txBody>
                  <a:tcPr anchor="ctr">
                    <a:solidFill>
                      <a:srgbClr val="FFFFFF"/>
                    </a:solidFill>
                  </a:tcPr>
                </a:tc>
                <a:extLst>
                  <a:ext uri="{0D108BD9-81ED-4DB2-BD59-A6C34878D82A}">
                    <a16:rowId xmlns:a16="http://schemas.microsoft.com/office/drawing/2014/main" val="10001"/>
                  </a:ext>
                </a:extLst>
              </a:tr>
              <a:tr h="514350">
                <a:tc>
                  <a:txBody>
                    <a:bodyPr/>
                    <a:lstStyle/>
                    <a:p>
                      <a:pPr algn="l">
                        <a:defRPr sz="1100" b="1">
                          <a:solidFill>
                            <a:srgbClr val="2563EB"/>
                          </a:solidFill>
                          <a:latin typeface="Arial"/>
                        </a:defRPr>
                      </a:pPr>
                      <a:r>
                        <a:t>Skills Match</a:t>
                      </a:r>
                    </a:p>
                  </a:txBody>
                  <a:tcPr anchor="ctr">
                    <a:solidFill>
                      <a:srgbClr val="F1F5F9"/>
                    </a:solidFill>
                  </a:tcPr>
                </a:tc>
                <a:tc>
                  <a:txBody>
                    <a:bodyPr/>
                    <a:lstStyle/>
                    <a:p>
                      <a:pPr algn="ctr">
                        <a:defRPr sz="1100" b="1">
                          <a:solidFill>
                            <a:srgbClr val="14B8A6"/>
                          </a:solidFill>
                          <a:latin typeface="Arial"/>
                        </a:defRPr>
                      </a:pPr>
                      <a:r>
                        <a:t>25%</a:t>
                      </a:r>
                    </a:p>
                  </a:txBody>
                  <a:tcPr anchor="ctr">
                    <a:solidFill>
                      <a:srgbClr val="F1F5F9"/>
                    </a:solidFill>
                  </a:tcPr>
                </a:tc>
                <a:tc>
                  <a:txBody>
                    <a:bodyPr/>
                    <a:lstStyle/>
                    <a:p>
                      <a:pPr algn="l">
                        <a:defRPr sz="1100">
                          <a:solidFill>
                            <a:srgbClr val="0F172A"/>
                          </a:solidFill>
                          <a:latin typeface="Arial"/>
                        </a:defRPr>
                      </a:pPr>
                      <a:r>
                        <a:t>Regex-based matching of extracted JD skills from universal 200+ list.</a:t>
                      </a:r>
                    </a:p>
                  </a:txBody>
                  <a:tcPr anchor="ctr">
                    <a:solidFill>
                      <a:srgbClr val="F1F5F9"/>
                    </a:solidFill>
                  </a:tcPr>
                </a:tc>
                <a:extLst>
                  <a:ext uri="{0D108BD9-81ED-4DB2-BD59-A6C34878D82A}">
                    <a16:rowId xmlns:a16="http://schemas.microsoft.com/office/drawing/2014/main" val="10002"/>
                  </a:ext>
                </a:extLst>
              </a:tr>
              <a:tr h="514350">
                <a:tc>
                  <a:txBody>
                    <a:bodyPr/>
                    <a:lstStyle/>
                    <a:p>
                      <a:pPr algn="l">
                        <a:defRPr sz="1100" b="1">
                          <a:solidFill>
                            <a:srgbClr val="2563EB"/>
                          </a:solidFill>
                          <a:latin typeface="Arial"/>
                        </a:defRPr>
                      </a:pPr>
                      <a:r>
                        <a:t>Projects &amp; Achievements</a:t>
                      </a:r>
                    </a:p>
                  </a:txBody>
                  <a:tcPr anchor="ctr">
                    <a:solidFill>
                      <a:srgbClr val="FFFFFF"/>
                    </a:solidFill>
                  </a:tcPr>
                </a:tc>
                <a:tc>
                  <a:txBody>
                    <a:bodyPr/>
                    <a:lstStyle/>
                    <a:p>
                      <a:pPr algn="ctr">
                        <a:defRPr sz="1100" b="1">
                          <a:solidFill>
                            <a:srgbClr val="14B8A6"/>
                          </a:solidFill>
                          <a:latin typeface="Arial"/>
                        </a:defRPr>
                      </a:pPr>
                      <a:r>
                        <a:t>15%</a:t>
                      </a:r>
                    </a:p>
                  </a:txBody>
                  <a:tcPr anchor="ctr">
                    <a:solidFill>
                      <a:srgbClr val="FFFFFF"/>
                    </a:solidFill>
                  </a:tcPr>
                </a:tc>
                <a:tc>
                  <a:txBody>
                    <a:bodyPr/>
                    <a:lstStyle/>
                    <a:p>
                      <a:pPr algn="l">
                        <a:defRPr sz="1100">
                          <a:solidFill>
                            <a:srgbClr val="0F172A"/>
                          </a:solidFill>
                          <a:latin typeface="Arial"/>
                        </a:defRPr>
                      </a:pPr>
                      <a:r>
                        <a:t>Scored on action verbs (0.4), metrics/numbers (0.3), hackathons/awards (0.15), and project section length (0.15).</a:t>
                      </a:r>
                    </a:p>
                  </a:txBody>
                  <a:tcPr anchor="ctr">
                    <a:solidFill>
                      <a:srgbClr val="FFFFFF"/>
                    </a:solidFill>
                  </a:tcPr>
                </a:tc>
                <a:extLst>
                  <a:ext uri="{0D108BD9-81ED-4DB2-BD59-A6C34878D82A}">
                    <a16:rowId xmlns:a16="http://schemas.microsoft.com/office/drawing/2014/main" val="10003"/>
                  </a:ext>
                </a:extLst>
              </a:tr>
              <a:tr h="514350">
                <a:tc>
                  <a:txBody>
                    <a:bodyPr/>
                    <a:lstStyle/>
                    <a:p>
                      <a:pPr algn="l">
                        <a:defRPr sz="1100" b="1">
                          <a:solidFill>
                            <a:srgbClr val="2563EB"/>
                          </a:solidFill>
                          <a:latin typeface="Arial"/>
                        </a:defRPr>
                      </a:pPr>
                      <a:r>
                        <a:t>Experience Relevance</a:t>
                      </a:r>
                    </a:p>
                  </a:txBody>
                  <a:tcPr anchor="ctr">
                    <a:solidFill>
                      <a:srgbClr val="F1F5F9"/>
                    </a:solidFill>
                  </a:tcPr>
                </a:tc>
                <a:tc>
                  <a:txBody>
                    <a:bodyPr/>
                    <a:lstStyle/>
                    <a:p>
                      <a:pPr algn="ctr">
                        <a:defRPr sz="1100" b="1">
                          <a:solidFill>
                            <a:srgbClr val="14B8A6"/>
                          </a:solidFill>
                          <a:latin typeface="Arial"/>
                        </a:defRPr>
                      </a:pPr>
                      <a:r>
                        <a:t>10%</a:t>
                      </a:r>
                    </a:p>
                  </a:txBody>
                  <a:tcPr anchor="ctr">
                    <a:solidFill>
                      <a:srgbClr val="F1F5F9"/>
                    </a:solidFill>
                  </a:tcPr>
                </a:tc>
                <a:tc>
                  <a:txBody>
                    <a:bodyPr/>
                    <a:lstStyle/>
                    <a:p>
                      <a:pPr algn="l">
                        <a:defRPr sz="1100">
                          <a:solidFill>
                            <a:srgbClr val="0F172A"/>
                          </a:solidFill>
                          <a:latin typeface="Arial"/>
                        </a:defRPr>
                      </a:pPr>
                      <a:r>
                        <a:t>Overlap coefficient of words (&gt;4 chars) in resume experience section vs. full JD text.</a:t>
                      </a:r>
                    </a:p>
                  </a:txBody>
                  <a:tcPr anchor="ctr">
                    <a:solidFill>
                      <a:srgbClr val="F1F5F9"/>
                    </a:solidFill>
                  </a:tcPr>
                </a:tc>
                <a:extLst>
                  <a:ext uri="{0D108BD9-81ED-4DB2-BD59-A6C34878D82A}">
                    <a16:rowId xmlns:a16="http://schemas.microsoft.com/office/drawing/2014/main" val="10004"/>
                  </a:ext>
                </a:extLst>
              </a:tr>
              <a:tr h="514350">
                <a:tc>
                  <a:txBody>
                    <a:bodyPr/>
                    <a:lstStyle/>
                    <a:p>
                      <a:pPr algn="l">
                        <a:defRPr sz="1100" b="1">
                          <a:solidFill>
                            <a:srgbClr val="2563EB"/>
                          </a:solidFill>
                          <a:latin typeface="Arial"/>
                        </a:defRPr>
                      </a:pPr>
                      <a:r>
                        <a:t>Education Level</a:t>
                      </a:r>
                    </a:p>
                  </a:txBody>
                  <a:tcPr anchor="ctr">
                    <a:solidFill>
                      <a:srgbClr val="FFFFFF"/>
                    </a:solidFill>
                  </a:tcPr>
                </a:tc>
                <a:tc>
                  <a:txBody>
                    <a:bodyPr/>
                    <a:lstStyle/>
                    <a:p>
                      <a:pPr algn="ctr">
                        <a:defRPr sz="1100" b="1">
                          <a:solidFill>
                            <a:srgbClr val="14B8A6"/>
                          </a:solidFill>
                          <a:latin typeface="Arial"/>
                        </a:defRPr>
                      </a:pPr>
                      <a:r>
                        <a:t>5%</a:t>
                      </a:r>
                    </a:p>
                  </a:txBody>
                  <a:tcPr anchor="ctr">
                    <a:solidFill>
                      <a:srgbClr val="FFFFFF"/>
                    </a:solidFill>
                  </a:tcPr>
                </a:tc>
                <a:tc>
                  <a:txBody>
                    <a:bodyPr/>
                    <a:lstStyle/>
                    <a:p>
                      <a:pPr algn="l">
                        <a:defRPr sz="1100">
                          <a:solidFill>
                            <a:srgbClr val="0F172A"/>
                          </a:solidFill>
                          <a:latin typeface="Arial"/>
                        </a:defRPr>
                      </a:pPr>
                      <a:r>
                        <a:t>Degree hierarchy scoring: PhD (1.0), Masters (0.9), Bachelors (0.8), Diploma (0.6), college name (0.5).</a:t>
                      </a:r>
                    </a:p>
                  </a:txBody>
                  <a:tcPr anchor="ctr">
                    <a:solidFill>
                      <a:srgbClr val="FFFFFF"/>
                    </a:solidFill>
                  </a:tcPr>
                </a:tc>
                <a:extLst>
                  <a:ext uri="{0D108BD9-81ED-4DB2-BD59-A6C34878D82A}">
                    <a16:rowId xmlns:a16="http://schemas.microsoft.com/office/drawing/2014/main" val="10005"/>
                  </a:ext>
                </a:extLst>
              </a:tr>
              <a:tr h="514350">
                <a:tc>
                  <a:txBody>
                    <a:bodyPr/>
                    <a:lstStyle/>
                    <a:p>
                      <a:pPr algn="l">
                        <a:defRPr sz="1100" b="1">
                          <a:solidFill>
                            <a:srgbClr val="2563EB"/>
                          </a:solidFill>
                          <a:latin typeface="Arial"/>
                        </a:defRPr>
                      </a:pPr>
                      <a:r>
                        <a:t>Certifications</a:t>
                      </a:r>
                    </a:p>
                  </a:txBody>
                  <a:tcPr anchor="ctr">
                    <a:solidFill>
                      <a:srgbClr val="F1F5F9"/>
                    </a:solidFill>
                  </a:tcPr>
                </a:tc>
                <a:tc>
                  <a:txBody>
                    <a:bodyPr/>
                    <a:lstStyle/>
                    <a:p>
                      <a:pPr algn="ctr">
                        <a:defRPr sz="1100" b="1">
                          <a:solidFill>
                            <a:srgbClr val="14B8A6"/>
                          </a:solidFill>
                          <a:latin typeface="Arial"/>
                        </a:defRPr>
                      </a:pPr>
                      <a:r>
                        <a:t>3%</a:t>
                      </a:r>
                    </a:p>
                  </a:txBody>
                  <a:tcPr anchor="ctr">
                    <a:solidFill>
                      <a:srgbClr val="F1F5F9"/>
                    </a:solidFill>
                  </a:tcPr>
                </a:tc>
                <a:tc>
                  <a:txBody>
                    <a:bodyPr/>
                    <a:lstStyle/>
                    <a:p>
                      <a:pPr algn="l">
                        <a:defRPr sz="1100">
                          <a:solidFill>
                            <a:srgbClr val="0F172A"/>
                          </a:solidFill>
                          <a:latin typeface="Arial"/>
                        </a:defRPr>
                      </a:pPr>
                      <a:r>
                        <a:t>Continuous learning metrics scanning keywords like AWS, Coursera, Udemy, NPTEL (0.25 per cert, max 1.0).</a:t>
                      </a:r>
                    </a:p>
                  </a:txBody>
                  <a:tcPr anchor="ctr">
                    <a:solidFill>
                      <a:srgbClr val="F1F5F9"/>
                    </a:solidFill>
                  </a:tcPr>
                </a:tc>
                <a:extLst>
                  <a:ext uri="{0D108BD9-81ED-4DB2-BD59-A6C34878D82A}">
                    <a16:rowId xmlns:a16="http://schemas.microsoft.com/office/drawing/2014/main" val="10006"/>
                  </a:ext>
                </a:extLst>
              </a:tr>
              <a:tr h="514350">
                <a:tc>
                  <a:txBody>
                    <a:bodyPr/>
                    <a:lstStyle/>
                    <a:p>
                      <a:pPr algn="l">
                        <a:defRPr sz="1100" b="1">
                          <a:solidFill>
                            <a:srgbClr val="2563EB"/>
                          </a:solidFill>
                          <a:latin typeface="Arial"/>
                        </a:defRPr>
                      </a:pPr>
                      <a:r>
                        <a:t>Resume Quality</a:t>
                      </a:r>
                    </a:p>
                  </a:txBody>
                  <a:tcPr anchor="ctr">
                    <a:solidFill>
                      <a:srgbClr val="FFFFFF"/>
                    </a:solidFill>
                  </a:tcPr>
                </a:tc>
                <a:tc>
                  <a:txBody>
                    <a:bodyPr/>
                    <a:lstStyle/>
                    <a:p>
                      <a:pPr algn="ctr">
                        <a:defRPr sz="1100" b="1">
                          <a:solidFill>
                            <a:srgbClr val="14B8A6"/>
                          </a:solidFill>
                          <a:latin typeface="Arial"/>
                        </a:defRPr>
                      </a:pPr>
                      <a:r>
                        <a:t>2% </a:t>
                      </a:r>
                    </a:p>
                  </a:txBody>
                  <a:tcPr anchor="ctr">
                    <a:solidFill>
                      <a:srgbClr val="FFFFFF"/>
                    </a:solidFill>
                  </a:tcPr>
                </a:tc>
                <a:tc>
                  <a:txBody>
                    <a:bodyPr/>
                    <a:lstStyle/>
                    <a:p>
                      <a:pPr algn="l">
                        <a:defRPr sz="1100">
                          <a:solidFill>
                            <a:srgbClr val="0F172A"/>
                          </a:solidFill>
                          <a:latin typeface="Arial"/>
                        </a:defRPr>
                      </a:pPr>
                      <a:r>
                        <a:t>Completeness scoring: checks for email (0.25), phone (0.20), education (0.20), projects (0.20), text length (0.15).</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6 of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Dual-Model Deep Learning Architecture</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12064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274320" rIns="365760" rtlCol="0" anchor="ctr"/>
          <a:lstStyle/>
          <a:p>
            <a:pPr algn="ctr">
              <a:spcAft>
                <a:spcPts val="1500"/>
              </a:spcAft>
              <a:defRPr sz="1500" b="1">
                <a:solidFill>
                  <a:srgbClr val="2563EB"/>
                </a:solidFill>
                <a:latin typeface="Arial"/>
              </a:defRPr>
            </a:pPr>
            <a:r>
              <a:t>BI-ENCODER (SENTENCE-BERT)</a:t>
            </a:r>
          </a:p>
          <a:p>
            <a:pPr>
              <a:spcAft>
                <a:spcPts val="800"/>
              </a:spcAft>
            </a:pPr>
            <a:r>
              <a:rPr sz="1300" b="1">
                <a:solidFill>
                  <a:srgbClr val="2563EB"/>
                </a:solidFill>
                <a:latin typeface="Arial"/>
              </a:rPr>
              <a:t>•  Model: </a:t>
            </a:r>
            <a:r>
              <a:rPr sz="1300" b="0">
                <a:solidFill>
                  <a:srgbClr val="0F172A"/>
                </a:solidFill>
                <a:latin typeface="Arial"/>
              </a:rPr>
              <a:t>'all-MiniLM-L6-v2' — Lightweight, 384-dimensional vector space mapped for high speed.</a:t>
            </a:r>
          </a:p>
          <a:p>
            <a:pPr>
              <a:spcAft>
                <a:spcPts val="800"/>
              </a:spcAft>
            </a:pPr>
            <a:r>
              <a:rPr sz="1300" b="1">
                <a:solidFill>
                  <a:srgbClr val="2563EB"/>
                </a:solidFill>
                <a:latin typeface="Arial"/>
              </a:rPr>
              <a:t>•  Method: </a:t>
            </a:r>
            <a:r>
              <a:rPr sz="1300" b="0">
                <a:solidFill>
                  <a:srgbClr val="0F172A"/>
                </a:solidFill>
                <a:latin typeface="Arial"/>
              </a:rPr>
              <a:t>Encodes JD and Resume separately. Calculates Cosine Similarity between vectors.</a:t>
            </a:r>
          </a:p>
          <a:p>
            <a:pPr>
              <a:spcAft>
                <a:spcPts val="800"/>
              </a:spcAft>
            </a:pPr>
            <a:r>
              <a:rPr sz="1300" b="1">
                <a:solidFill>
                  <a:srgbClr val="2563EB"/>
                </a:solidFill>
                <a:latin typeface="Arial"/>
              </a:rPr>
              <a:t>•  Use Case: </a:t>
            </a:r>
            <a:r>
              <a:rPr sz="1300" b="0">
                <a:solidFill>
                  <a:srgbClr val="0F172A"/>
                </a:solidFill>
                <a:latin typeface="Arial"/>
              </a:rPr>
              <a:t>Acts as the initial pipeline filter. Highly scalable, handles bulk candidate scoring in seconds.</a:t>
            </a:r>
          </a:p>
          <a:p>
            <a:pPr>
              <a:spcAft>
                <a:spcPts val="800"/>
              </a:spcAft>
            </a:pPr>
            <a:r>
              <a:rPr sz="1300" b="1">
                <a:solidFill>
                  <a:srgbClr val="2563EB"/>
                </a:solidFill>
                <a:latin typeface="Arial"/>
              </a:rPr>
              <a:t>•  Semantic Scope: </a:t>
            </a:r>
            <a:r>
              <a:rPr sz="1300" b="0">
                <a:solidFill>
                  <a:srgbClr val="0F172A"/>
                </a:solidFill>
                <a:latin typeface="Arial"/>
              </a:rPr>
              <a:t>Understands conceptual overlap (e.g. associates 'React Native' with 'mobile development').</a:t>
            </a:r>
          </a:p>
        </p:txBody>
      </p:sp>
      <p:sp>
        <p:nvSpPr>
          <p:cNvPr id="5" name="Rounded Rectangle 4"/>
          <p:cNvSpPr/>
          <p:nvPr/>
        </p:nvSpPr>
        <p:spPr>
          <a:xfrm>
            <a:off x="6217920" y="1645920"/>
            <a:ext cx="5212080" cy="4389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365760" tIns="274320" rIns="365760" rtlCol="0" anchor="ctr"/>
          <a:lstStyle/>
          <a:p>
            <a:pPr algn="ctr">
              <a:spcAft>
                <a:spcPts val="1500"/>
              </a:spcAft>
              <a:defRPr sz="1500" b="1">
                <a:solidFill>
                  <a:srgbClr val="14B8A6"/>
                </a:solidFill>
                <a:latin typeface="Arial"/>
              </a:defRPr>
            </a:pPr>
            <a:r>
              <a:t>CROSS-ENCODER (RE-RANKER)</a:t>
            </a:r>
          </a:p>
          <a:p>
            <a:pPr>
              <a:spcAft>
                <a:spcPts val="800"/>
              </a:spcAft>
            </a:pPr>
            <a:r>
              <a:rPr sz="1300" b="1">
                <a:solidFill>
                  <a:srgbClr val="2563EB"/>
                </a:solidFill>
                <a:latin typeface="Arial"/>
              </a:rPr>
              <a:t>•  Model: </a:t>
            </a:r>
            <a:r>
              <a:rPr sz="1300" b="0">
                <a:solidFill>
                  <a:srgbClr val="0F172A"/>
                </a:solidFill>
                <a:latin typeface="Arial"/>
              </a:rPr>
              <a:t>'cross-encoder/ms-marco-MiniLM-L-6-v2' — High accuracy, fine-tuned on search relevance.</a:t>
            </a:r>
          </a:p>
          <a:p>
            <a:pPr>
              <a:spcAft>
                <a:spcPts val="800"/>
              </a:spcAft>
            </a:pPr>
            <a:r>
              <a:rPr sz="1300" b="1">
                <a:solidFill>
                  <a:srgbClr val="2563EB"/>
                </a:solidFill>
                <a:latin typeface="Arial"/>
              </a:rPr>
              <a:t>•  Method: </a:t>
            </a:r>
            <a:r>
              <a:rPr sz="1300" b="0">
                <a:solidFill>
                  <a:srgbClr val="0F172A"/>
                </a:solidFill>
                <a:latin typeface="Arial"/>
              </a:rPr>
              <a:t>Inputs JD and Resume simultaneously, utilizing self-attention across both sequences.</a:t>
            </a:r>
          </a:p>
          <a:p>
            <a:pPr>
              <a:spcAft>
                <a:spcPts val="800"/>
              </a:spcAft>
            </a:pPr>
            <a:r>
              <a:rPr sz="1300" b="1">
                <a:solidFill>
                  <a:srgbClr val="2563EB"/>
                </a:solidFill>
                <a:latin typeface="Arial"/>
              </a:rPr>
              <a:t>•  Use Case: </a:t>
            </a:r>
            <a:r>
              <a:rPr sz="1300" b="0">
                <a:solidFill>
                  <a:srgbClr val="0F172A"/>
                </a:solidFill>
                <a:latin typeface="Arial"/>
              </a:rPr>
              <a:t>Re-ranks the top 10 candidates. Compensates for bi-encoder limitations to resolve nuances.</a:t>
            </a:r>
          </a:p>
          <a:p>
            <a:pPr>
              <a:spcAft>
                <a:spcPts val="800"/>
              </a:spcAft>
            </a:pPr>
            <a:r>
              <a:rPr sz="1300" b="1">
                <a:solidFill>
                  <a:srgbClr val="2563EB"/>
                </a:solidFill>
                <a:latin typeface="Arial"/>
              </a:rPr>
              <a:t>•  Weighted Blend: </a:t>
            </a:r>
            <a:r>
              <a:rPr sz="1300" b="0">
                <a:solidFill>
                  <a:srgbClr val="0F172A"/>
                </a:solidFill>
                <a:latin typeface="Arial"/>
              </a:rPr>
              <a:t>Combines final scores: 70% weighted factor pipeline + 30% Cross-Encoder predict score.</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7 of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HR Dashboard: Resume Upload &amp; Analytics</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029200" cy="4389120"/>
          </a:xfrm>
          <a:prstGeom prst="rect">
            <a:avLst/>
          </a:prstGeom>
          <a:noFill/>
        </p:spPr>
        <p:txBody>
          <a:bodyPr wrap="square" lIns="0" tIns="0" rIns="0" bIns="0">
            <a:spAutoFit/>
          </a:bodyPr>
          <a:lstStyle/>
          <a:p>
            <a:pPr>
              <a:spcAft>
                <a:spcPts val="1200"/>
              </a:spcAft>
            </a:pPr>
            <a:r>
              <a:rPr sz="1500" b="1">
                <a:solidFill>
                  <a:srgbClr val="2563EB"/>
                </a:solidFill>
                <a:latin typeface="Arial"/>
              </a:rPr>
              <a:t>•  HR Access Portal: </a:t>
            </a:r>
            <a:r>
              <a:rPr sz="1500" b="0">
                <a:solidFill>
                  <a:srgbClr val="0F172A"/>
                </a:solidFill>
                <a:latin typeface="Arial"/>
              </a:rPr>
              <a:t>Secure user registration and login endpoints utilizing encrypted credentials (bcrypt) and JWT credentials.</a:t>
            </a:r>
          </a:p>
          <a:p>
            <a:pPr>
              <a:spcAft>
                <a:spcPts val="1200"/>
              </a:spcAft>
            </a:pPr>
            <a:r>
              <a:rPr sz="1500" b="1">
                <a:solidFill>
                  <a:srgbClr val="2563EB"/>
                </a:solidFill>
                <a:latin typeface="Arial"/>
              </a:rPr>
              <a:t>•  Multi-Format Upload Zone: </a:t>
            </a:r>
            <a:r>
              <a:rPr sz="1500" b="0">
                <a:solidFill>
                  <a:srgbClr val="0F172A"/>
                </a:solidFill>
                <a:latin typeface="Arial"/>
              </a:rPr>
              <a:t>Intuitive, animated drop-zone accepting JD file and batch resume files (.pdf, .docx, .txt).</a:t>
            </a:r>
          </a:p>
          <a:p>
            <a:pPr>
              <a:spcAft>
                <a:spcPts val="1200"/>
              </a:spcAft>
            </a:pPr>
            <a:r>
              <a:rPr sz="1500" b="1">
                <a:solidFill>
                  <a:srgbClr val="2563EB"/>
                </a:solidFill>
                <a:latin typeface="Arial"/>
              </a:rPr>
              <a:t>•  Candidate History: </a:t>
            </a:r>
            <a:r>
              <a:rPr sz="1500" b="0">
                <a:solidFill>
                  <a:srgbClr val="0F172A"/>
                </a:solidFill>
                <a:latin typeface="Arial"/>
              </a:rPr>
              <a:t>Fetches recently screened pools automatically from local storage memory to maintain screening sessions.</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rPr dirty="0"/>
              <a:t>AI Resume Screening System  |  Internship Project Presentation</a:t>
            </a:r>
          </a:p>
          <a:p>
            <a:pPr algn="r">
              <a:defRPr sz="900">
                <a:solidFill>
                  <a:srgbClr val="64748B"/>
                </a:solidFill>
                <a:latin typeface="Arial"/>
              </a:defRPr>
            </a:pPr>
            <a:r>
              <a:rPr dirty="0"/>
              <a:t>Slide 8 of 11</a:t>
            </a:r>
          </a:p>
        </p:txBody>
      </p:sp>
      <p:pic>
        <p:nvPicPr>
          <p:cNvPr id="8" name="Picture 7">
            <a:extLst>
              <a:ext uri="{FF2B5EF4-FFF2-40B4-BE49-F238E27FC236}">
                <a16:creationId xmlns:a16="http://schemas.microsoft.com/office/drawing/2014/main" id="{98DEC7B9-9F9D-05C3-51BE-5636C2D3FBA2}"/>
              </a:ext>
            </a:extLst>
          </p:cNvPr>
          <p:cNvPicPr>
            <a:picLocks noChangeAspect="1"/>
          </p:cNvPicPr>
          <p:nvPr/>
        </p:nvPicPr>
        <p:blipFill>
          <a:blip r:embed="rId3"/>
          <a:srcRect/>
          <a:stretch>
            <a:fillRect/>
          </a:stretch>
        </p:blipFill>
        <p:spPr>
          <a:xfrm>
            <a:off x="6096000" y="1906533"/>
            <a:ext cx="5220000" cy="3685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Candidate Results &amp; AI-Generated Explanations</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5029200" cy="4389120"/>
          </a:xfrm>
          <a:prstGeom prst="rect">
            <a:avLst/>
          </a:prstGeom>
          <a:noFill/>
        </p:spPr>
        <p:txBody>
          <a:bodyPr wrap="square" lIns="0" tIns="0" rIns="0" bIns="0">
            <a:spAutoFit/>
          </a:bodyPr>
          <a:lstStyle/>
          <a:p>
            <a:pPr>
              <a:spcAft>
                <a:spcPts val="1200"/>
              </a:spcAft>
            </a:pPr>
            <a:r>
              <a:rPr sz="1500" b="1">
                <a:solidFill>
                  <a:srgbClr val="2563EB"/>
                </a:solidFill>
                <a:latin typeface="Arial"/>
              </a:rPr>
              <a:t>•  Status Thresholds: </a:t>
            </a:r>
            <a:r>
              <a:rPr sz="1500" b="0">
                <a:solidFill>
                  <a:srgbClr val="0F172A"/>
                </a:solidFill>
                <a:latin typeface="Arial"/>
              </a:rPr>
              <a:t>Sorts candidate statuses based on score boundaries: Shortlisted (&gt;=60%), In Review (40-59%), and Rejected (&lt;40%).</a:t>
            </a:r>
          </a:p>
          <a:p>
            <a:pPr>
              <a:spcAft>
                <a:spcPts val="1200"/>
              </a:spcAft>
            </a:pPr>
            <a:r>
              <a:rPr sz="1500" b="1">
                <a:solidFill>
                  <a:srgbClr val="2563EB"/>
                </a:solidFill>
                <a:latin typeface="Arial"/>
              </a:rPr>
              <a:t>•  Skills Match Checklist: </a:t>
            </a:r>
            <a:r>
              <a:rPr sz="1500" b="0">
                <a:solidFill>
                  <a:srgbClr val="0F172A"/>
                </a:solidFill>
                <a:latin typeface="Arial"/>
              </a:rPr>
              <a:t>Explicitly lists matched vs. missing skills, helping recruiters rapidly assess talent gaps.</a:t>
            </a:r>
          </a:p>
          <a:p>
            <a:pPr>
              <a:spcAft>
                <a:spcPts val="1200"/>
              </a:spcAft>
            </a:pPr>
            <a:r>
              <a:rPr sz="1500" b="1">
                <a:solidFill>
                  <a:srgbClr val="2563EB"/>
                </a:solidFill>
                <a:latin typeface="Arial"/>
              </a:rPr>
              <a:t>•  AI Explanations: </a:t>
            </a:r>
            <a:r>
              <a:rPr sz="1500" b="0">
                <a:solidFill>
                  <a:srgbClr val="0F172A"/>
                </a:solidFill>
                <a:latin typeface="Arial"/>
              </a:rPr>
              <a:t>Textual breakdown explaining recommendations. Highlights key certifications, project volume, and contact completeness.</a:t>
            </a:r>
          </a:p>
        </p:txBody>
      </p:sp>
      <p:sp>
        <p:nvSpPr>
          <p:cNvPr id="6" name="TextBox 5"/>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9 of 11</a:t>
            </a:r>
          </a:p>
        </p:txBody>
      </p:sp>
      <p:pic>
        <p:nvPicPr>
          <p:cNvPr id="8" name="Picture 7">
            <a:extLst>
              <a:ext uri="{FF2B5EF4-FFF2-40B4-BE49-F238E27FC236}">
                <a16:creationId xmlns:a16="http://schemas.microsoft.com/office/drawing/2014/main" id="{42F3CC19-450B-2D12-E14D-039E0A6E4A24}"/>
              </a:ext>
            </a:extLst>
          </p:cNvPr>
          <p:cNvPicPr>
            <a:picLocks noChangeAspect="1"/>
          </p:cNvPicPr>
          <p:nvPr/>
        </p:nvPicPr>
        <p:blipFill>
          <a:blip r:embed="rId2"/>
          <a:stretch>
            <a:fillRect/>
          </a:stretch>
        </p:blipFill>
        <p:spPr>
          <a:xfrm>
            <a:off x="5948913" y="1603381"/>
            <a:ext cx="5699053" cy="41913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731520"/>
          </a:xfrm>
          <a:prstGeom prst="rect">
            <a:avLst/>
          </a:prstGeom>
          <a:noFill/>
        </p:spPr>
        <p:txBody>
          <a:bodyPr wrap="square" lIns="0" tIns="0" rIns="0" bIns="0">
            <a:spAutoFit/>
          </a:bodyPr>
          <a:lstStyle/>
          <a:p>
            <a:pPr>
              <a:defRPr sz="2800" b="1">
                <a:solidFill>
                  <a:srgbClr val="0F172A"/>
                </a:solidFill>
                <a:latin typeface="Arial"/>
              </a:defRPr>
            </a:pPr>
            <a:r>
              <a:t>Key Strengths &amp; Engineering Best Practices</a:t>
            </a:r>
          </a:p>
        </p:txBody>
      </p:sp>
      <p:sp>
        <p:nvSpPr>
          <p:cNvPr id="3" name="Rectangle 2"/>
          <p:cNvSpPr/>
          <p:nvPr/>
        </p:nvSpPr>
        <p:spPr>
          <a:xfrm>
            <a:off x="731520" y="1097280"/>
            <a:ext cx="10972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10728655" cy="4389120"/>
          </a:xfrm>
          <a:prstGeom prst="rect">
            <a:avLst/>
          </a:prstGeom>
          <a:noFill/>
        </p:spPr>
        <p:txBody>
          <a:bodyPr wrap="square" lIns="0" tIns="0" rIns="0" bIns="0">
            <a:spAutoFit/>
          </a:bodyPr>
          <a:lstStyle/>
          <a:p>
            <a:pPr>
              <a:spcAft>
                <a:spcPts val="1800"/>
              </a:spcAft>
            </a:pPr>
            <a:r>
              <a:rPr sz="1500" b="1">
                <a:solidFill>
                  <a:srgbClr val="2563EB"/>
                </a:solidFill>
                <a:latin typeface="Arial"/>
              </a:rPr>
              <a:t>•  Domain Agnostic Design: </a:t>
            </a:r>
            <a:r>
              <a:rPr sz="1500" b="0">
                <a:solidFill>
                  <a:srgbClr val="0F172A"/>
                </a:solidFill>
                <a:latin typeface="Arial"/>
              </a:rPr>
              <a:t>The entire pipeline (SBERT, spaCy parse, scoring) handles any business domain — Tech, Finance, Marketing, HR, or Healthcare. It adapts dynamically based solely on the uploaded Job Description.</a:t>
            </a:r>
          </a:p>
          <a:p>
            <a:pPr>
              <a:spcAft>
                <a:spcPts val="1800"/>
              </a:spcAft>
            </a:pPr>
            <a:r>
              <a:rPr sz="1500" b="1">
                <a:solidFill>
                  <a:srgbClr val="2563EB"/>
                </a:solidFill>
                <a:latin typeface="Arial"/>
              </a:rPr>
              <a:t>•  Word-Boundary Regex Skill Extraction: </a:t>
            </a:r>
            <a:r>
              <a:rPr sz="1500" b="0">
                <a:solidFill>
                  <a:srgbClr val="0F172A"/>
                </a:solidFill>
                <a:latin typeface="Arial"/>
              </a:rPr>
              <a:t>Rather than loose string searches, skills are matched using strict regex word boundaries (e.g. won't match language 'Scala' inside 'scalable' or 'Go' in 'Google'). This dramatically reduces false positives.</a:t>
            </a:r>
          </a:p>
          <a:p>
            <a:pPr>
              <a:spcAft>
                <a:spcPts val="1800"/>
              </a:spcAft>
            </a:pPr>
            <a:r>
              <a:rPr sz="1500" b="1">
                <a:solidFill>
                  <a:srgbClr val="2563EB"/>
                </a:solidFill>
                <a:latin typeface="Arial"/>
              </a:rPr>
              <a:t>•  Secure Session Handshake: </a:t>
            </a:r>
            <a:r>
              <a:rPr sz="1500" b="0">
                <a:solidFill>
                  <a:srgbClr val="0F172A"/>
                </a:solidFill>
                <a:latin typeface="Arial"/>
              </a:rPr>
              <a:t>Features password hashing on registration with bcrypt, and subsequent endpoint security via temporary JWT bearer tokens with expiration limits.</a:t>
            </a:r>
          </a:p>
          <a:p>
            <a:pPr>
              <a:spcAft>
                <a:spcPts val="1800"/>
              </a:spcAft>
            </a:pPr>
            <a:r>
              <a:rPr sz="1500" b="1">
                <a:solidFill>
                  <a:srgbClr val="2563EB"/>
                </a:solidFill>
                <a:latin typeface="Arial"/>
              </a:rPr>
              <a:t>•  Performance Minded Scoring: </a:t>
            </a:r>
            <a:r>
              <a:rPr sz="1500" b="0">
                <a:solidFill>
                  <a:srgbClr val="0F172A"/>
                </a:solidFill>
                <a:latin typeface="Arial"/>
              </a:rPr>
              <a:t>SBERT handles high-speed vector embeddings for all candidates, while the slower Cross-Encoder only re-ranks the top candidate subset, ensuring fast system response.</a:t>
            </a:r>
          </a:p>
        </p:txBody>
      </p:sp>
      <p:sp>
        <p:nvSpPr>
          <p:cNvPr id="5" name="TextBox 4"/>
          <p:cNvSpPr txBox="1"/>
          <p:nvPr/>
        </p:nvSpPr>
        <p:spPr>
          <a:xfrm>
            <a:off x="731520" y="6400800"/>
            <a:ext cx="10698480" cy="365760"/>
          </a:xfrm>
          <a:prstGeom prst="rect">
            <a:avLst/>
          </a:prstGeom>
          <a:noFill/>
        </p:spPr>
        <p:txBody>
          <a:bodyPr wrap="square" lIns="0" tIns="0" rIns="0" bIns="0">
            <a:spAutoFit/>
          </a:bodyPr>
          <a:lstStyle/>
          <a:p>
            <a:pPr>
              <a:defRPr sz="900">
                <a:solidFill>
                  <a:srgbClr val="64748B"/>
                </a:solidFill>
                <a:latin typeface="Arial"/>
              </a:defRPr>
            </a:pPr>
            <a:r>
              <a:t>AI Resume Screening System  |  Internship Project Presentation</a:t>
            </a:r>
          </a:p>
          <a:p>
            <a:pPr algn="r">
              <a:defRPr sz="900">
                <a:solidFill>
                  <a:srgbClr val="64748B"/>
                </a:solidFill>
                <a:latin typeface="Arial"/>
              </a:defRPr>
            </a:pPr>
            <a:r>
              <a:t>Slide 10 of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ight Triangle 1"/>
          <p:cNvSpPr/>
          <p:nvPr/>
        </p:nvSpPr>
        <p:spPr>
          <a:xfrm>
            <a:off x="0" y="0"/>
            <a:ext cx="4114800" cy="6858000"/>
          </a:xfrm>
          <a:prstGeom prst="rtTriangl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14800" y="0"/>
            <a:ext cx="9144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0" y="1097280"/>
            <a:ext cx="6705295" cy="4937760"/>
          </a:xfrm>
          <a:prstGeom prst="rect">
            <a:avLst/>
          </a:prstGeom>
          <a:noFill/>
        </p:spPr>
        <p:txBody>
          <a:bodyPr wrap="square" lIns="0" tIns="0" rIns="0" bIns="0">
            <a:spAutoFit/>
          </a:bodyPr>
          <a:lstStyle/>
          <a:p>
            <a:pPr>
              <a:spcAft>
                <a:spcPts val="2500"/>
              </a:spcAft>
              <a:defRPr sz="2800" b="1">
                <a:solidFill>
                  <a:srgbClr val="F1F5F9"/>
                </a:solidFill>
                <a:latin typeface="Arial"/>
              </a:defRPr>
            </a:pPr>
            <a:r>
              <a:t>Conclusion &amp; Future Roadmap</a:t>
            </a:r>
          </a:p>
          <a:p>
            <a:pPr>
              <a:spcAft>
                <a:spcPts val="1200"/>
              </a:spcAft>
            </a:pPr>
            <a:r>
              <a:rPr sz="1400" b="1">
                <a:solidFill>
                  <a:srgbClr val="14B8A6"/>
                </a:solidFill>
                <a:latin typeface="Arial"/>
              </a:rPr>
              <a:t>•  Automated Screening Standard: </a:t>
            </a:r>
            <a:r>
              <a:rPr sz="1400" b="0">
                <a:solidFill>
                  <a:srgbClr val="F1F5F9"/>
                </a:solidFill>
                <a:latin typeface="Arial"/>
              </a:rPr>
              <a:t>Successfully designed a production-grade 7-factor screening pipeline that shortlists resumes in seconds instead of hours.</a:t>
            </a:r>
          </a:p>
          <a:p>
            <a:pPr>
              <a:spcAft>
                <a:spcPts val="1200"/>
              </a:spcAft>
            </a:pPr>
            <a:r>
              <a:rPr sz="1400" b="1">
                <a:solidFill>
                  <a:srgbClr val="14B8A6"/>
                </a:solidFill>
                <a:latin typeface="Arial"/>
              </a:rPr>
              <a:t>•  Explainability and Transparency: </a:t>
            </a:r>
            <a:r>
              <a:rPr sz="1400" b="0">
                <a:solidFill>
                  <a:srgbClr val="F1F5F9"/>
                </a:solidFill>
                <a:latin typeface="Arial"/>
              </a:rPr>
              <a:t>The AI explanation engine removes black-box skepticism for managers and provides recruiters with actionable fit insights.</a:t>
            </a:r>
          </a:p>
          <a:p>
            <a:pPr>
              <a:spcAft>
                <a:spcPts val="1200"/>
              </a:spcAft>
            </a:pPr>
            <a:r>
              <a:rPr sz="1400" b="1">
                <a:solidFill>
                  <a:srgbClr val="14B8A6"/>
                </a:solidFill>
                <a:latin typeface="Arial"/>
              </a:rPr>
              <a:t>•  Future: LLM Interview Generative UI: </a:t>
            </a:r>
            <a:r>
              <a:rPr sz="1400" b="0">
                <a:solidFill>
                  <a:srgbClr val="F1F5F9"/>
                </a:solidFill>
                <a:latin typeface="Arial"/>
              </a:rPr>
              <a:t>Plan to integrate local LLMs to generate custom, resume-specific technical questions for the HR team to use in interview stages.</a:t>
            </a:r>
          </a:p>
          <a:p>
            <a:pPr>
              <a:spcAft>
                <a:spcPts val="1200"/>
              </a:spcAft>
            </a:pPr>
            <a:r>
              <a:rPr sz="1400" b="1">
                <a:solidFill>
                  <a:srgbClr val="14B8A6"/>
                </a:solidFill>
                <a:latin typeface="Arial"/>
              </a:rPr>
              <a:t>•  Future: Database Persistence: </a:t>
            </a:r>
            <a:r>
              <a:rPr sz="1400" b="0">
                <a:solidFill>
                  <a:srgbClr val="F1F5F9"/>
                </a:solidFill>
                <a:latin typeface="Arial"/>
              </a:rPr>
              <a:t>Transition from local memory/JSON storage to a relational DB (PostgreSQL) or document DB (MongoDB) for scalability and security.</a:t>
            </a:r>
          </a:p>
        </p:txBody>
      </p:sp>
      <p:sp>
        <p:nvSpPr>
          <p:cNvPr id="5" name="TextBox 4"/>
          <p:cNvSpPr txBox="1"/>
          <p:nvPr/>
        </p:nvSpPr>
        <p:spPr>
          <a:xfrm>
            <a:off x="731520" y="6400800"/>
            <a:ext cx="10698480" cy="365760"/>
          </a:xfrm>
          <a:prstGeom prst="rect">
            <a:avLst/>
          </a:prstGeom>
          <a:noFill/>
        </p:spPr>
        <p:txBody>
          <a:bodyPr wrap="square" lIns="0" tIns="0" rIns="0" bIns="0">
            <a:spAutoFit/>
          </a:bodyPr>
          <a:lstStyle/>
          <a:p>
            <a:pPr>
              <a:defRPr sz="900">
                <a:solidFill>
                  <a:srgbClr val="94A3B8"/>
                </a:solidFill>
                <a:latin typeface="Arial"/>
              </a:defRPr>
            </a:pPr>
            <a:r>
              <a:t>AI Resume Screening System  |  Internship Project Presentation</a:t>
            </a:r>
          </a:p>
          <a:p>
            <a:pPr algn="r">
              <a:defRPr sz="900">
                <a:solidFill>
                  <a:srgbClr val="94A3B8"/>
                </a:solidFill>
                <a:latin typeface="Arial"/>
              </a:defRPr>
            </a:pPr>
            <a:r>
              <a:t>Slide 11 of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1541</Words>
  <Application>Microsoft Office PowerPoint</Application>
  <PresentationFormat>Widescreen</PresentationFormat>
  <Paragraphs>132</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Soumya Prasad</dc:creator>
  <cp:keywords/>
  <dc:description>generated using python-pptx</dc:description>
  <cp:lastModifiedBy>[BTECH-005-2023-24] Soumya prasad</cp:lastModifiedBy>
  <cp:revision>3</cp:revision>
  <dcterms:created xsi:type="dcterms:W3CDTF">2013-01-27T09:14:16Z</dcterms:created>
  <dcterms:modified xsi:type="dcterms:W3CDTF">2026-06-15T18:55:43Z</dcterms:modified>
  <cp:category/>
</cp:coreProperties>
</file>